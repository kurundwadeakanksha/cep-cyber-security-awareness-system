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1" r:id="rId6"/>
    <p:sldId id="263" r:id="rId7"/>
    <p:sldId id="262" r:id="rId8"/>
    <p:sldId id="264" r:id="rId9"/>
    <p:sldId id="265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CC0066"/>
    <a:srgbClr val="D47A02"/>
    <a:srgbClr val="5EEC3C"/>
    <a:srgbClr val="E6B254"/>
    <a:srgbClr val="BF7E37"/>
    <a:srgbClr val="1D3A00"/>
    <a:srgbClr val="E39A39"/>
    <a:srgbClr val="FE9202"/>
    <a:srgbClr val="6C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018" y="-31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670" y="1655519"/>
            <a:ext cx="7940660" cy="167975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335275"/>
            <a:ext cx="794066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281175"/>
            <a:ext cx="794065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350111"/>
            <a:ext cx="7940660" cy="3359509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281175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7405"/>
            <a:ext cx="6413610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69" y="1655519"/>
            <a:ext cx="8398776" cy="1679755"/>
          </a:xfrm>
        </p:spPr>
        <p:txBody>
          <a:bodyPr>
            <a:normAutofit/>
          </a:bodyPr>
          <a:lstStyle/>
          <a:p>
            <a:r>
              <a:rPr lang="en-IN" dirty="0"/>
              <a:t>Cyber security </a:t>
            </a:r>
            <a:br>
              <a:rPr lang="en-IN" dirty="0"/>
            </a:br>
            <a:r>
              <a:rPr lang="en-IN" dirty="0"/>
              <a:t>Awareness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335275"/>
            <a:ext cx="8542330" cy="763525"/>
          </a:xfrm>
        </p:spPr>
        <p:txBody>
          <a:bodyPr/>
          <a:lstStyle/>
          <a:p>
            <a:r>
              <a:rPr lang="en-US" dirty="0"/>
              <a:t>Digital Literacy 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28470"/>
            <a:ext cx="7940660" cy="916230"/>
          </a:xfrm>
        </p:spPr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Ananya Shreepati Samanta                 25UAM090                                  </a:t>
            </a:r>
          </a:p>
          <a:p>
            <a:r>
              <a:rPr lang="en-US" dirty="0"/>
              <a:t>Akanksha Amol Kurundwade.             25UAM092</a:t>
            </a:r>
          </a:p>
          <a:p>
            <a:r>
              <a:rPr lang="en-US" dirty="0"/>
              <a:t>Palak Babaso Patil.                                25UAM093</a:t>
            </a:r>
          </a:p>
          <a:p>
            <a:r>
              <a:rPr lang="en-US" dirty="0"/>
              <a:t>Arpita Raju </a:t>
            </a:r>
            <a:r>
              <a:rPr lang="en-US" dirty="0" err="1"/>
              <a:t>Taradale</a:t>
            </a:r>
            <a:r>
              <a:rPr lang="en-US" dirty="0"/>
              <a:t>                             25UAM095</a:t>
            </a:r>
          </a:p>
          <a:p>
            <a:r>
              <a:rPr lang="en-US" dirty="0"/>
              <a:t>Akhila Kiran </a:t>
            </a:r>
            <a:r>
              <a:rPr lang="en-US" dirty="0" err="1"/>
              <a:t>Dhutre</a:t>
            </a:r>
            <a:r>
              <a:rPr lang="en-US" dirty="0"/>
              <a:t>                              25UAM098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4306" y="433881"/>
            <a:ext cx="6413609" cy="916229"/>
          </a:xfrm>
        </p:spPr>
        <p:txBody>
          <a:bodyPr>
            <a:normAutofit/>
          </a:bodyPr>
          <a:lstStyle/>
          <a:p>
            <a:r>
              <a:rPr lang="en-US" sz="4000" dirty="0"/>
              <a:t>Problem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694306" y="1350110"/>
            <a:ext cx="6413610" cy="351106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Increasing cyber frauds in banking and online transactions. </a:t>
            </a:r>
          </a:p>
          <a:p>
            <a:r>
              <a:rPr lang="en-IN" dirty="0"/>
              <a:t>Lack of awareness among students, senior citizens, and shopkeepers. </a:t>
            </a:r>
          </a:p>
          <a:p>
            <a:r>
              <a:rPr lang="en-IN" dirty="0"/>
              <a:t>People share OTPs, passwords, and personal details unknowingly. </a:t>
            </a:r>
          </a:p>
          <a:p>
            <a:r>
              <a:rPr lang="en-IN" dirty="0"/>
              <a:t>Many cybercrime victims do not know where to report incidents.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7080" y="128471"/>
            <a:ext cx="8093365" cy="916230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DD98524-AFBB-22F0-CB86-E6AB4DB0A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502814"/>
            <a:ext cx="9000445" cy="35122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1.To identify cybersecurity issues in different sectors of society. </a:t>
            </a:r>
          </a:p>
          <a:p>
            <a:pPr marL="0" indent="0">
              <a:buNone/>
            </a:pPr>
            <a:r>
              <a:rPr lang="en-IN" dirty="0"/>
              <a:t>2.To visit banks, schools, colleges, police stations, courts, hospitals, and local markets to understand cyber-related challenges. </a:t>
            </a:r>
          </a:p>
          <a:p>
            <a:pPr marL="0" indent="0">
              <a:buNone/>
            </a:pPr>
            <a:r>
              <a:rPr lang="en-IN" dirty="0"/>
              <a:t>3.To collect information from officials and the public about common cyber threats. </a:t>
            </a:r>
          </a:p>
          <a:p>
            <a:pPr marL="0" indent="0">
              <a:buNone/>
            </a:pPr>
            <a:r>
              <a:rPr lang="en-IN" dirty="0"/>
              <a:t>4.To create awareness through posters, presentations, and educational sessions.</a:t>
            </a:r>
          </a:p>
          <a:p>
            <a:pPr marL="0" indent="0">
              <a:buNone/>
            </a:pPr>
            <a:r>
              <a:rPr lang="en-IN" dirty="0"/>
              <a:t>5.To educate people about safe online practices and cybercrime reporting.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3833-D13E-7A3C-B7B4-06FA3C83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C1E90F-F10A-764E-3916-A35A5D62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060" y="281175"/>
            <a:ext cx="6413609" cy="916229"/>
          </a:xfrm>
        </p:spPr>
        <p:txBody>
          <a:bodyPr>
            <a:normAutofit/>
          </a:bodyPr>
          <a:lstStyle/>
          <a:p>
            <a:r>
              <a:rPr lang="en-IN" sz="4000" b="1" dirty="0"/>
              <a:t> Need for the Project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5E0B37-5C29-EFD4-4E5B-E2F7CAB7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4306" y="1350110"/>
            <a:ext cx="6413610" cy="3511061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Cyber fraud cases are increasing every day. </a:t>
            </a:r>
          </a:p>
          <a:p>
            <a:r>
              <a:rPr lang="en-IN" dirty="0"/>
              <a:t>Many people become victims because they are unaware of online scams. </a:t>
            </a:r>
          </a:p>
          <a:p>
            <a:r>
              <a:rPr lang="en-IN" dirty="0"/>
              <a:t>Students and senior citizens need cybersecurity education. </a:t>
            </a:r>
          </a:p>
          <a:p>
            <a:r>
              <a:rPr lang="en-IN" dirty="0"/>
              <a:t>Shopkeepers and bank customers require awareness about digital payment fraud. </a:t>
            </a:r>
          </a:p>
          <a:p>
            <a:r>
              <a:rPr lang="en-IN" dirty="0"/>
              <a:t>Awareness is the best way to prevent cybercrime and promote safe internet usage.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E4D8-1D69-E2BF-159C-4C32AA6A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BE1A-DFE6-820A-3194-C32522BC7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340" y="128470"/>
            <a:ext cx="7940660" cy="916230"/>
          </a:xfrm>
        </p:spPr>
        <p:txBody>
          <a:bodyPr/>
          <a:lstStyle/>
          <a:p>
            <a:r>
              <a:rPr lang="en-IN" dirty="0"/>
              <a:t>Methodology / Plan of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AFA6-93EE-A40F-6730-27990DB3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0" y="1350111"/>
            <a:ext cx="8246070" cy="3664919"/>
          </a:xfrm>
        </p:spPr>
        <p:txBody>
          <a:bodyPr>
            <a:normAutofit fontScale="47500" lnSpcReduction="20000"/>
          </a:bodyPr>
          <a:lstStyle/>
          <a:p>
            <a:r>
              <a:rPr lang="en-IN" sz="2900" b="1" dirty="0"/>
              <a:t>Phase 1 – Planning</a:t>
            </a:r>
          </a:p>
          <a:p>
            <a:pPr marL="0" indent="0">
              <a:buNone/>
            </a:pPr>
            <a:r>
              <a:rPr lang="en-IN" sz="2900" dirty="0"/>
              <a:t>                      Select places for field visits. </a:t>
            </a:r>
          </a:p>
          <a:p>
            <a:pPr marL="0" indent="0">
              <a:buNone/>
            </a:pPr>
            <a:r>
              <a:rPr lang="en-IN" sz="2900" dirty="0"/>
              <a:t>                      Prepare questionnaires for data collection. </a:t>
            </a:r>
          </a:p>
          <a:p>
            <a:r>
              <a:rPr lang="en-IN" sz="2900" b="1" dirty="0"/>
              <a:t>Phase 2 – Field Visits</a:t>
            </a:r>
          </a:p>
          <a:p>
            <a:pPr marL="0" indent="0">
              <a:buNone/>
            </a:pPr>
            <a:r>
              <a:rPr lang="en-IN" sz="2900" dirty="0"/>
              <a:t>                      Visit banks, schools, colleges, police stations, courts, hospitals, and local markets. </a:t>
            </a:r>
          </a:p>
          <a:p>
            <a:pPr marL="0" indent="0">
              <a:buNone/>
            </a:pPr>
            <a:r>
              <a:rPr lang="en-IN" sz="2900" dirty="0"/>
              <a:t>                      Interact with officials and members of the public. </a:t>
            </a:r>
          </a:p>
          <a:p>
            <a:r>
              <a:rPr lang="en-IN" sz="2900" b="1" dirty="0"/>
              <a:t>Phase 3 – Data Collection</a:t>
            </a:r>
          </a:p>
          <a:p>
            <a:pPr marL="0" indent="0">
              <a:buNone/>
            </a:pPr>
            <a:r>
              <a:rPr lang="en-IN" sz="2900" dirty="0"/>
              <a:t>                       Record common cybersecurity problems. </a:t>
            </a:r>
          </a:p>
          <a:p>
            <a:pPr marL="0" indent="0">
              <a:buNone/>
            </a:pPr>
            <a:r>
              <a:rPr lang="en-IN" sz="2900" dirty="0"/>
              <a:t>                       Collect information on cybercrime reporting and preventive measures. </a:t>
            </a:r>
          </a:p>
          <a:p>
            <a:r>
              <a:rPr lang="en-IN" sz="2900" b="1" dirty="0"/>
              <a:t>Phase 4 – Awareness Activities</a:t>
            </a:r>
          </a:p>
          <a:p>
            <a:pPr marL="0" indent="0">
              <a:buNone/>
            </a:pPr>
            <a:r>
              <a:rPr lang="en-IN" sz="2900" dirty="0"/>
              <a:t>                         Design cybersecurity awareness posters. </a:t>
            </a:r>
          </a:p>
          <a:p>
            <a:pPr marL="0" indent="0">
              <a:buNone/>
            </a:pPr>
            <a:r>
              <a:rPr lang="en-IN" sz="2900" dirty="0"/>
              <a:t>                         Explain cyber safety tips to the public. </a:t>
            </a:r>
          </a:p>
          <a:p>
            <a:r>
              <a:rPr lang="en-IN" sz="2900" b="1" dirty="0"/>
              <a:t>Phase 5 – Evaluation</a:t>
            </a:r>
          </a:p>
          <a:p>
            <a:pPr marL="0" indent="0">
              <a:buNone/>
            </a:pPr>
            <a:r>
              <a:rPr lang="en-IN" sz="2900" dirty="0"/>
              <a:t>                       Collect feedback. </a:t>
            </a:r>
          </a:p>
          <a:p>
            <a:pPr marL="0" indent="0">
              <a:buNone/>
            </a:pPr>
            <a:r>
              <a:rPr lang="en-IN" sz="2900" dirty="0"/>
              <a:t>                       Analyze the effectiveness of the awareness program. </a:t>
            </a:r>
          </a:p>
          <a:p>
            <a:pPr marL="0" indent="0">
              <a:buNone/>
            </a:pPr>
            <a:r>
              <a:rPr lang="en-IN" sz="2900" dirty="0"/>
              <a:t>                       Prepare the final report and presentation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5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F509-C6CF-C5C6-BF12-EBFB58C2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56CA9-FDDE-F06C-317F-C6D21570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306" y="433881"/>
            <a:ext cx="6413609" cy="916229"/>
          </a:xfrm>
        </p:spPr>
        <p:txBody>
          <a:bodyPr>
            <a:normAutofit/>
          </a:bodyPr>
          <a:lstStyle/>
          <a:p>
            <a:r>
              <a:rPr lang="en-IN" sz="4000" dirty="0"/>
              <a:t>Expected Outcomes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123696-6D2F-9BEE-19AD-92D0D0D94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4306" y="1350110"/>
            <a:ext cx="6413610" cy="351106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Increased awareness about cybersecurity among students and the public. </a:t>
            </a:r>
          </a:p>
          <a:p>
            <a:r>
              <a:rPr lang="en-IN" dirty="0"/>
              <a:t>Better understanding of phishing, UPI fraud, QR code scams, and online fraud. </a:t>
            </a:r>
          </a:p>
          <a:p>
            <a:r>
              <a:rPr lang="en-IN" dirty="0"/>
              <a:t>Improved digital safety practices. </a:t>
            </a:r>
          </a:p>
          <a:p>
            <a:r>
              <a:rPr lang="en-IN" dirty="0"/>
              <a:t>More people knowing how and where to report cybercrime. </a:t>
            </a:r>
          </a:p>
          <a:p>
            <a:r>
              <a:rPr lang="en-IN" dirty="0"/>
              <a:t>Reduction in cyber fraud through awareness and education. 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8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779C-3C05-CDC7-8837-A9933D88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841A-CCEE-F566-D749-EB3D160D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340" y="128470"/>
            <a:ext cx="7940660" cy="916230"/>
          </a:xfrm>
        </p:spPr>
        <p:txBody>
          <a:bodyPr/>
          <a:lstStyle/>
          <a:p>
            <a:r>
              <a:rPr lang="en-IN" dirty="0"/>
              <a:t>Methodology / Plan of Action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B1B72BD-8483-7492-09B0-93C2D7A09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987639"/>
              </p:ext>
            </p:extLst>
          </p:nvPr>
        </p:nvGraphicFramePr>
        <p:xfrm>
          <a:off x="296260" y="1477690"/>
          <a:ext cx="8398776" cy="36626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99388">
                  <a:extLst>
                    <a:ext uri="{9D8B030D-6E8A-4147-A177-3AD203B41FA5}">
                      <a16:colId xmlns:a16="http://schemas.microsoft.com/office/drawing/2014/main" val="3795380622"/>
                    </a:ext>
                  </a:extLst>
                </a:gridCol>
                <a:gridCol w="4199388">
                  <a:extLst>
                    <a:ext uri="{9D8B030D-6E8A-4147-A177-3AD203B41FA5}">
                      <a16:colId xmlns:a16="http://schemas.microsoft.com/office/drawing/2014/main" val="3354233076"/>
                    </a:ext>
                  </a:extLst>
                </a:gridCol>
              </a:tblGrid>
              <a:tr h="336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Week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IN" sz="1200">
                        <a:solidFill>
                          <a:schemeClr val="bg1"/>
                        </a:solidFill>
                      </a:endParaRP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2267415056"/>
                  </a:ext>
                </a:extLst>
              </a:tr>
              <a:tr h="336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1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Project planning and literature survey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85612756"/>
                  </a:ext>
                </a:extLst>
              </a:tr>
              <a:tr h="336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2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Prepare questionnaires and posters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321148355"/>
                  </a:ext>
                </a:extLst>
              </a:tr>
              <a:tr h="336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3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Visit banks and collect information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2337387374"/>
                  </a:ext>
                </a:extLst>
              </a:tr>
              <a:tr h="389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4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bg1"/>
                          </a:solidFill>
                        </a:rPr>
                        <a:t>Visit schools and colleges for awareness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4141778120"/>
                  </a:ext>
                </a:extLst>
              </a:tr>
              <a:tr h="395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5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Visit police station and court to understand cybercrime reporting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1176947507"/>
                  </a:ext>
                </a:extLst>
              </a:tr>
              <a:tr h="38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6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Visit local markets and hospitals to identify cyber issues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3069939536"/>
                  </a:ext>
                </a:extLst>
              </a:tr>
              <a:tr h="383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7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Analyze findings and prepare documentation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2013845777"/>
                  </a:ext>
                </a:extLst>
              </a:tr>
              <a:tr h="375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Week 8</a:t>
                      </a: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</a:rPr>
                        <a:t>Final PPT preparation and project presentation</a:t>
                      </a: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253998018"/>
                  </a:ext>
                </a:extLst>
              </a:tr>
              <a:tr h="3857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61104" marR="61104" marT="30552" marB="305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a:txBody>
                  <a:tcPr marL="61104" marR="61104" marT="30552" marB="30552" anchor="ctr"/>
                </a:tc>
                <a:extLst>
                  <a:ext uri="{0D108BD9-81ED-4DB2-BD59-A6C34878D82A}">
                    <a16:rowId xmlns:a16="http://schemas.microsoft.com/office/drawing/2014/main" val="405337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83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68A8-98EE-253A-C620-9A63B84E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3C7359-3E55-4658-AC31-D22D35B8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306" y="433881"/>
            <a:ext cx="6413609" cy="916229"/>
          </a:xfrm>
        </p:spPr>
        <p:txBody>
          <a:bodyPr>
            <a:normAutofit/>
          </a:bodyPr>
          <a:lstStyle/>
          <a:p>
            <a:r>
              <a:rPr lang="en-IN" sz="4000" dirty="0"/>
              <a:t>References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DE0A80-1B6B-3283-6C6B-73C1B4E58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4306" y="1350110"/>
            <a:ext cx="6413610" cy="3511061"/>
          </a:xfrm>
        </p:spPr>
        <p:txBody>
          <a:bodyPr>
            <a:normAutofit/>
          </a:bodyPr>
          <a:lstStyle/>
          <a:p>
            <a:r>
              <a:rPr lang="en-IN" dirty="0"/>
              <a:t>Information collected during visits to banks, schools, police stations, courts, hospitals, and local markets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3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On-screen Show (16:9)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Cyber security  Awareness System</vt:lpstr>
      <vt:lpstr>Team Members</vt:lpstr>
      <vt:lpstr>Problem Statement</vt:lpstr>
      <vt:lpstr>Objectives</vt:lpstr>
      <vt:lpstr> Need for the Project</vt:lpstr>
      <vt:lpstr>Methodology / Plan of Action</vt:lpstr>
      <vt:lpstr>Expected Outcomes</vt:lpstr>
      <vt:lpstr>Methodology / Plan of Action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2026-07-26T14:34:36Z</dcterms:modified>
</cp:coreProperties>
</file>