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87255" y="274320"/>
            <a:ext cx="6329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rPr dirty="0"/>
              <a:t>CYBER SECURITY AWARENESS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3723"/>
            <a:ext cx="19421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BEDC"/>
                </a:solidFill>
              </a:defRPr>
            </a:pPr>
            <a:r>
              <a:rPr sz="2400" dirty="0"/>
              <a:t>Developed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492240" cy="4343400"/>
          </a:xfrm>
          <a:prstGeom prst="roundRect">
            <a:avLst/>
          </a:prstGeom>
          <a:solidFill>
            <a:srgbClr val="121F34"/>
          </a:solidFill>
          <a:ln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56032" rtlCol="0" anchor="ctr"/>
          <a:lstStyle/>
          <a:p>
            <a:pPr algn="ctr">
              <a:spcAft>
                <a:spcPts val="1600"/>
              </a:spcAft>
              <a:defRPr sz="1700">
                <a:solidFill>
                  <a:srgbClr val="F8FBFF"/>
                </a:solidFill>
                <a:latin typeface="Aptos"/>
              </a:defRPr>
            </a:pPr>
            <a:r>
              <a:rPr lang="en-IN" dirty="0"/>
              <a:t>1. </a:t>
            </a:r>
            <a:r>
              <a:rPr dirty="0"/>
              <a:t>Ananya Shreepati Samanta   —   25UAM090</a:t>
            </a:r>
          </a:p>
          <a:p>
            <a:pPr>
              <a:spcAft>
                <a:spcPts val="1600"/>
              </a:spcAft>
              <a:defRPr sz="1700">
                <a:solidFill>
                  <a:srgbClr val="F8FBFF"/>
                </a:solidFill>
                <a:latin typeface="Aptos"/>
              </a:defRPr>
            </a:pPr>
            <a:r>
              <a:rPr lang="en-US" dirty="0"/>
              <a:t>	      </a:t>
            </a:r>
            <a:r>
              <a:rPr dirty="0"/>
              <a:t>2. Akanksha Amol Kurundwade   —   25UAM092</a:t>
            </a:r>
          </a:p>
          <a:p>
            <a:pPr>
              <a:spcAft>
                <a:spcPts val="1600"/>
              </a:spcAft>
              <a:defRPr sz="1700">
                <a:solidFill>
                  <a:srgbClr val="F8FBFF"/>
                </a:solidFill>
                <a:latin typeface="Aptos"/>
              </a:defRPr>
            </a:pPr>
            <a:r>
              <a:rPr lang="en-US" dirty="0"/>
              <a:t>	      </a:t>
            </a:r>
            <a:r>
              <a:rPr dirty="0"/>
              <a:t>3. Palak </a:t>
            </a:r>
            <a:r>
              <a:rPr dirty="0" err="1"/>
              <a:t>Babaso</a:t>
            </a:r>
            <a:r>
              <a:rPr dirty="0"/>
              <a:t> Patil   —   25UAM093</a:t>
            </a:r>
          </a:p>
          <a:p>
            <a:pPr>
              <a:spcAft>
                <a:spcPts val="1600"/>
              </a:spcAft>
              <a:defRPr sz="1700">
                <a:solidFill>
                  <a:srgbClr val="F8FBFF"/>
                </a:solidFill>
                <a:latin typeface="Aptos"/>
              </a:defRPr>
            </a:pPr>
            <a:r>
              <a:rPr lang="en-US" dirty="0"/>
              <a:t>                </a:t>
            </a:r>
            <a:r>
              <a:rPr dirty="0"/>
              <a:t>4. Arpita Raju </a:t>
            </a:r>
            <a:r>
              <a:rPr dirty="0" err="1"/>
              <a:t>Taradale</a:t>
            </a:r>
            <a:r>
              <a:rPr dirty="0"/>
              <a:t>   —   25UAM095</a:t>
            </a:r>
          </a:p>
          <a:p>
            <a:pPr>
              <a:spcAft>
                <a:spcPts val="1600"/>
              </a:spcAft>
              <a:defRPr sz="1700">
                <a:solidFill>
                  <a:srgbClr val="F8FBFF"/>
                </a:solidFill>
                <a:latin typeface="Aptos"/>
              </a:defRPr>
            </a:pPr>
            <a:r>
              <a:rPr lang="en-US" dirty="0"/>
              <a:t>                </a:t>
            </a:r>
            <a:r>
              <a:rPr dirty="0"/>
              <a:t>5. Akhila Kiran </a:t>
            </a:r>
            <a:r>
              <a:rPr dirty="0" err="1"/>
              <a:t>Dhutre</a:t>
            </a:r>
            <a:r>
              <a:rPr dirty="0"/>
              <a:t>   —   25UAM098</a:t>
            </a:r>
          </a:p>
        </p:txBody>
      </p:sp>
      <p:sp>
        <p:nvSpPr>
          <p:cNvPr id="7" name="Hexagon 6"/>
          <p:cNvSpPr/>
          <p:nvPr/>
        </p:nvSpPr>
        <p:spPr>
          <a:xfrm>
            <a:off x="8367252" y="1874520"/>
            <a:ext cx="2560320" cy="3108960"/>
          </a:xfrm>
          <a:prstGeom prst="hexagon">
            <a:avLst/>
          </a:prstGeom>
          <a:solidFill>
            <a:srgbClr val="0F5B96"/>
          </a:solidFill>
          <a:ln w="2540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8FBFF"/>
                </a:solidFill>
              </a:defRPr>
            </a:pPr>
            <a:r>
              <a:t>CYBER</a:t>
            </a:r>
            <a:br/>
            <a:r>
              <a:t>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Introduction of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23444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What is Cyber Security?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Cyber security is the practice of protecting computers, mobile devices, networks, applications and personal information from digital threats.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39845"/>
            <a:ext cx="52120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2EEF8"/>
                </a:solidFill>
                <a:latin typeface="Aptos"/>
              </a:defRPr>
            </a:pPr>
            <a:r>
              <a:rPr dirty="0"/>
              <a:t>Phishing, fake links and fraudulent messages</a:t>
            </a:r>
          </a:p>
          <a:p>
            <a:pPr>
              <a:spcAft>
                <a:spcPts val="900"/>
              </a:spcAft>
              <a:defRPr sz="1700" b="0">
                <a:solidFill>
                  <a:srgbClr val="E2EEF8"/>
                </a:solidFill>
                <a:latin typeface="Aptos"/>
              </a:defRPr>
            </a:pPr>
            <a:r>
              <a:rPr dirty="0"/>
              <a:t>OTP, UPI and online banking scams</a:t>
            </a:r>
          </a:p>
          <a:p>
            <a:pPr>
              <a:spcAft>
                <a:spcPts val="900"/>
              </a:spcAft>
              <a:defRPr sz="1700" b="0">
                <a:solidFill>
                  <a:srgbClr val="E2EEF8"/>
                </a:solidFill>
                <a:latin typeface="Aptos"/>
              </a:defRPr>
            </a:pPr>
            <a:r>
              <a:rPr dirty="0"/>
              <a:t>Password theft and account hacking</a:t>
            </a:r>
          </a:p>
          <a:p>
            <a:pPr>
              <a:spcAft>
                <a:spcPts val="900"/>
              </a:spcAft>
              <a:defRPr sz="1700" b="0">
                <a:solidFill>
                  <a:srgbClr val="E2EEF8"/>
                </a:solidFill>
                <a:latin typeface="Aptos"/>
              </a:defRPr>
            </a:pPr>
            <a:r>
              <a:rPr dirty="0"/>
              <a:t>Social media scams and identity theft</a:t>
            </a:r>
          </a:p>
          <a:p>
            <a:pPr>
              <a:spcAft>
                <a:spcPts val="900"/>
              </a:spcAft>
              <a:defRPr sz="1700" b="0">
                <a:solidFill>
                  <a:srgbClr val="E2EEF8"/>
                </a:solidFill>
                <a:latin typeface="Aptos"/>
              </a:defRPr>
            </a:pPr>
            <a:r>
              <a:rPr dirty="0"/>
              <a:t>Malware and malicious websites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11245"/>
            <a:ext cx="4846320" cy="18288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Aim of the Project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To understand real-life cybercrime risks, learn preventive measures from police, court and banking professionals, and spread cyber-safety awareness among the public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919570"/>
            <a:ext cx="4846320" cy="123444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Our Approach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Police Station Visit  •  Court Visit  •  Bank Visit  •  Public Awareness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Police Station Visit – Shivaji Nagar Police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5669280" cy="498348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6080760"/>
            <a:ext cx="5669279" cy="310896"/>
          </a:xfrm>
          <a:prstGeom prst="round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rPr sz="2000" dirty="0"/>
              <a:t>Interaction with Police Personnel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40686"/>
            <a:ext cx="489204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We visited Shivaji Nagar Police Station to understand how cybercrime complaints are handled.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We learned about reporting online fraud and the importance of preserving digital evidence.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We discussed common cybercrime situations and precautions citizens should follow.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The visit helped us understand the role of police in investigating cyber-related offences.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6D55C5-DAF8-24DB-AB12-4C40D9276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1" y="1097280"/>
            <a:ext cx="56692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Court Visit – Civil and Criminal Court, Ichalkaranji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7817"/>
            <a:ext cx="484632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The court visit helped us understand the legal side of cybercrime.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We learned about the importance of digital evidence in legal proceedings.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Cybercrime cases may involve online fraud, identity misuse and other digital offences.</a:t>
            </a:r>
          </a:p>
          <a:p>
            <a:pPr>
              <a:spcAft>
                <a:spcPts val="900"/>
              </a:spcAft>
              <a:defRPr sz="1600" b="0">
                <a:solidFill>
                  <a:srgbClr val="E2EEF8"/>
                </a:solidFill>
                <a:latin typeface="Aptos"/>
              </a:defRPr>
            </a:pPr>
            <a:r>
              <a:rPr dirty="0"/>
              <a:t>The visit showed us the importance of laws and legal action in protecting citizens.</a:t>
            </a:r>
          </a:p>
        </p:txBody>
      </p:sp>
      <p:pic>
        <p:nvPicPr>
          <p:cNvPr id="6" name="Picture 5" descr="1000105811_crop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97280"/>
            <a:ext cx="5760720" cy="4983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06440" y="1097280"/>
            <a:ext cx="5760720" cy="498348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06440" y="6089904"/>
            <a:ext cx="5760720" cy="310896"/>
          </a:xfrm>
          <a:prstGeom prst="round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Visit to Civil &amp; Criminal Court, Ichalkaranji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Bank Visit – Central Bank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5</a:t>
            </a:r>
          </a:p>
        </p:txBody>
      </p:sp>
      <p:pic>
        <p:nvPicPr>
          <p:cNvPr id="5" name="Picture 4" descr="1000105820_crop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715000" cy="498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097280"/>
            <a:ext cx="5715000" cy="498348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9495" y="6080760"/>
            <a:ext cx="5890801" cy="310896"/>
          </a:xfrm>
          <a:prstGeom prst="round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Visit to Central Bank of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2260" y="1515741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E2EEF8"/>
                </a:solidFill>
                <a:latin typeface="Aptos"/>
              </a:defRPr>
            </a:pPr>
            <a:r>
              <a:rPr dirty="0"/>
              <a:t>We learned about the importance of security in digital banking.</a:t>
            </a:r>
          </a:p>
          <a:p>
            <a:pPr>
              <a:spcAft>
                <a:spcPts val="900"/>
              </a:spcAft>
              <a:defRPr sz="1500" b="0">
                <a:solidFill>
                  <a:srgbClr val="E2EEF8"/>
                </a:solidFill>
                <a:latin typeface="Aptos"/>
              </a:defRPr>
            </a:pPr>
            <a:r>
              <a:rPr dirty="0"/>
              <a:t>Never share OTP, PIN, CVV, passwords or other confidential banking details.</a:t>
            </a:r>
          </a:p>
          <a:p>
            <a:pPr>
              <a:spcAft>
                <a:spcPts val="900"/>
              </a:spcAft>
              <a:defRPr sz="1500" b="0">
                <a:solidFill>
                  <a:srgbClr val="E2EEF8"/>
                </a:solidFill>
                <a:latin typeface="Aptos"/>
              </a:defRPr>
            </a:pPr>
            <a:r>
              <a:rPr dirty="0"/>
              <a:t>Users should verify links, calls and messages before making online payments.</a:t>
            </a:r>
          </a:p>
          <a:p>
            <a:pPr>
              <a:spcAft>
                <a:spcPts val="900"/>
              </a:spcAft>
              <a:defRPr sz="1500" b="0">
                <a:solidFill>
                  <a:srgbClr val="E2EEF8"/>
                </a:solidFill>
                <a:latin typeface="Aptos"/>
              </a:defRPr>
            </a:pPr>
            <a:r>
              <a:rPr dirty="0"/>
              <a:t>Suspicious or unauthorized transactions should be reported immediately to the bank.</a:t>
            </a:r>
          </a:p>
          <a:p>
            <a:pPr>
              <a:spcAft>
                <a:spcPts val="900"/>
              </a:spcAft>
              <a:defRPr sz="1500" b="0">
                <a:solidFill>
                  <a:srgbClr val="E2EEF8"/>
                </a:solidFill>
                <a:latin typeface="Aptos"/>
              </a:defRPr>
            </a:pPr>
            <a:r>
              <a:rPr dirty="0"/>
              <a:t>Safe digital banking practices can prevent many types of financial cyber fraud.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Public Awareness – Ichalkaranji Bus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5440680" cy="233172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440680" cy="233172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703320"/>
            <a:ext cx="5440680" cy="233172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703320"/>
            <a:ext cx="5440680" cy="2331720"/>
          </a:xfrm>
          <a:prstGeom prst="rect">
            <a:avLst/>
          </a:prstGeom>
          <a:noFill/>
          <a:ln w="19050"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80360" y="6144768"/>
            <a:ext cx="6400800" cy="384048"/>
          </a:xfrm>
          <a:prstGeom prst="roundRect">
            <a:avLst/>
          </a:prstGeom>
          <a:solidFill>
            <a:srgbClr val="0F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Spreading awareness about phishing • OTP/UPI fraud • fake calls • safe passwords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B6BBE0-8FD5-5281-EAF1-CCE8981E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40680" cy="23317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DD71FC-047F-D15D-7B04-D988FA72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1051560"/>
            <a:ext cx="5417820" cy="23317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F48615-582B-D08E-BD08-CF22F7DFC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3703320"/>
            <a:ext cx="5440679" cy="2331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7AFECA-30D5-CB3D-0939-6DE10D283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38" y="3703320"/>
            <a:ext cx="54406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Benefits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Awareness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Helps people recognize common cyber threats and scams.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1430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Safe Payments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Promotes secure use of UPI, cards, ATMs and online banking.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1430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Data Protection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Encourages protection of passwords and personal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Reporting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Creates awareness about reporting suspicious or fraudulent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36576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Practical Learning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Connects classroom knowledge with real-life situations.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657600"/>
            <a:ext cx="3154680" cy="205740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1600" dirty="0"/>
              <a:t>Community Impact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1600" dirty="0"/>
              <a:t>Spreads cyber-safety knowledge among students and the public.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2BEDC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1417320"/>
          </a:xfrm>
          <a:prstGeom prst="roundRect">
            <a:avLst/>
          </a:prstGeom>
          <a:solidFill>
            <a:srgbClr val="121F34"/>
          </a:solidFill>
          <a:ln w="12700">
            <a:solidFill>
              <a:srgbClr val="0F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22BEDC"/>
                </a:solidFill>
              </a:defRPr>
            </a:pPr>
            <a:r>
              <a:rPr sz="2000" dirty="0"/>
              <a:t>What We Learned</a:t>
            </a:r>
          </a:p>
          <a:p>
            <a:pPr>
              <a:defRPr sz="1300">
                <a:solidFill>
                  <a:srgbClr val="E2EEF8"/>
                </a:solidFill>
              </a:defRPr>
            </a:pPr>
            <a:r>
              <a:rPr sz="2000" dirty="0"/>
              <a:t>The Cyber Security Awareness System project gave us practical knowledge about cybercrime prevention, digital safety and responsible use of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76108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2EEF8"/>
                </a:solidFill>
                <a:latin typeface="Aptos"/>
              </a:defRPr>
            </a:pPr>
            <a:r>
              <a:rPr dirty="0"/>
              <a:t>Police and court visits helped us understand the reporting and legal aspects of cybercrime.</a:t>
            </a:r>
          </a:p>
          <a:p>
            <a:pPr>
              <a:spcAft>
                <a:spcPts val="900"/>
              </a:spcAft>
              <a:defRPr sz="1800" b="0">
                <a:solidFill>
                  <a:srgbClr val="E2EEF8"/>
                </a:solidFill>
                <a:latin typeface="Aptos"/>
              </a:defRPr>
            </a:pPr>
            <a:r>
              <a:rPr dirty="0"/>
              <a:t>The bank visit showed us how simple precautions can reduce online financial fraud.</a:t>
            </a:r>
          </a:p>
          <a:p>
            <a:pPr>
              <a:spcAft>
                <a:spcPts val="900"/>
              </a:spcAft>
              <a:defRPr sz="1800" b="0">
                <a:solidFill>
                  <a:srgbClr val="E2EEF8"/>
                </a:solidFill>
                <a:latin typeface="Aptos"/>
              </a:defRPr>
            </a:pPr>
            <a:r>
              <a:rPr dirty="0"/>
              <a:t>The public awareness activity helped us share cyber-safety practices with the community.</a:t>
            </a:r>
          </a:p>
          <a:p>
            <a:pPr>
              <a:spcAft>
                <a:spcPts val="900"/>
              </a:spcAft>
              <a:defRPr sz="1800" b="0">
                <a:solidFill>
                  <a:srgbClr val="E2EEF8"/>
                </a:solidFill>
                <a:latin typeface="Aptos"/>
              </a:defRPr>
            </a:pPr>
            <a:r>
              <a:rPr dirty="0"/>
              <a:t>Cyber security is a shared responsibility — think before you click and never share confidential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5532120"/>
            <a:ext cx="7863840" cy="594360"/>
          </a:xfrm>
          <a:prstGeom prst="roundRect">
            <a:avLst/>
          </a:prstGeom>
          <a:solidFill>
            <a:srgbClr val="0F5B96"/>
          </a:solidFill>
          <a:ln>
            <a:solidFill>
              <a:srgbClr val="2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BFF"/>
                </a:solidFill>
              </a:defRPr>
            </a:pPr>
            <a:r>
              <a:t>“Think Before You Click – Stay Safe, Stay Secure.”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561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akanksha kurundwade</cp:lastModifiedBy>
  <cp:revision>6</cp:revision>
  <dcterms:created xsi:type="dcterms:W3CDTF">2013-01-27T09:14:16Z</dcterms:created>
  <dcterms:modified xsi:type="dcterms:W3CDTF">2026-10-04T10:05:18Z</dcterms:modified>
  <cp:category/>
</cp:coreProperties>
</file>